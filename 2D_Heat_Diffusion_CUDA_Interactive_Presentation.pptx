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-720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3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52360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45552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38744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31936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25128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18320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11512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04704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97896" y="1188720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2360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45552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38744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31936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25128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8320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11512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04704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97896" y="1581912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45552" y="1975104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38744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31936" y="1975104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25128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18320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11512" y="1975104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04704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597896" y="1975104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52360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45552" y="2368296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38744" y="2368296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31936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25128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18320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11512" y="2368296"/>
            <a:ext cx="347472" cy="347472"/>
          </a:xfrm>
          <a:prstGeom prst="rect">
            <a:avLst/>
          </a:prstGeom>
          <a:solidFill>
            <a:srgbClr val="692C31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204704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97896" y="2368296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52360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45552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38744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31936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25128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18320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811512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204704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597896" y="2761488"/>
            <a:ext cx="347472" cy="347472"/>
          </a:xfrm>
          <a:prstGeom prst="rect">
            <a:avLst/>
          </a:prstGeom>
          <a:solidFill>
            <a:srgbClr val="2C1F35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" y="566928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1">
                <a:solidFill>
                  <a:srgbClr val="38D2E1"/>
                </a:solidFill>
                <a:latin typeface="Aptos"/>
              </a:rPr>
              <a:t>GPU PROGRAMMING • PROJECT WALKTHROUGH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1325880"/>
            <a:ext cx="6766560" cy="1325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400" b="1">
                <a:solidFill>
                  <a:srgbClr val="EFF6FF"/>
                </a:solidFill>
                <a:latin typeface="Aptos"/>
              </a:rPr>
              <a:t>2D Heat Diffusion
with CUDA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2999232"/>
            <a:ext cx="603504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0" dirty="0">
                <a:solidFill>
                  <a:srgbClr val="AEBED3"/>
                </a:solidFill>
                <a:latin typeface="Aptos"/>
              </a:rPr>
              <a:t>Convergence detection • Global memory • Shared-memory tiling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4096512"/>
            <a:ext cx="2651760" cy="1267058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" y="4261104"/>
            <a:ext cx="283464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en-US" sz="1200" b="1" dirty="0" err="1" smtClean="0">
                <a:solidFill>
                  <a:srgbClr val="EFF6FF"/>
                </a:solidFill>
                <a:latin typeface="Aptos"/>
              </a:rPr>
              <a:t>Rodosi</a:t>
            </a:r>
            <a:r>
              <a:rPr lang="en-US" sz="1200" b="1" dirty="0" smtClean="0">
                <a:solidFill>
                  <a:srgbClr val="EFF6FF"/>
                </a:solidFill>
                <a:latin typeface="Aptos"/>
              </a:rPr>
              <a:t> Biswas	G25AIT2088</a:t>
            </a:r>
            <a:endParaRPr sz="1200" b="1" dirty="0">
              <a:solidFill>
                <a:srgbClr val="EFF6FF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9808" y="6236208"/>
            <a:ext cx="5486400" cy="21236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0" dirty="0">
                <a:solidFill>
                  <a:srgbClr val="AEBED3"/>
                </a:solidFill>
                <a:latin typeface="Aptos"/>
              </a:rPr>
              <a:t>IIT Jodhpur  | </a:t>
            </a:r>
            <a:r>
              <a:rPr sz="900" b="0" dirty="0" smtClean="0">
                <a:solidFill>
                  <a:srgbClr val="AEBED3"/>
                </a:solidFill>
                <a:latin typeface="Aptos"/>
              </a:rPr>
              <a:t> </a:t>
            </a:r>
            <a:r>
              <a:rPr lang="en-US" sz="900" b="0" dirty="0" smtClean="0">
                <a:solidFill>
                  <a:srgbClr val="AEBED3"/>
                </a:solidFill>
                <a:latin typeface="Aptos"/>
              </a:rPr>
              <a:t> </a:t>
            </a:r>
            <a:r>
              <a:rPr sz="900" b="0" dirty="0" smtClean="0">
                <a:solidFill>
                  <a:srgbClr val="AEBED3"/>
                </a:solidFill>
                <a:latin typeface="Aptos"/>
              </a:rPr>
              <a:t>October </a:t>
            </a:r>
            <a:r>
              <a:rPr sz="900" b="0" dirty="0">
                <a:solidFill>
                  <a:srgbClr val="AEBED3"/>
                </a:solidFill>
                <a:latin typeface="Aptos"/>
              </a:rPr>
              <a:t>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3657600"/>
            <a:ext cx="393192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FFA45A"/>
                </a:solidFill>
                <a:latin typeface="Aptos"/>
              </a:rPr>
              <a:t>Heat flows from hot to cold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4187952"/>
            <a:ext cx="393192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0">
                <a:solidFill>
                  <a:srgbClr val="EFF6FF"/>
                </a:solidFill>
                <a:latin typeface="Aptos"/>
              </a:rPr>
              <a:t>The GPU updates many grid cells in parallel —
then checks whether the system has settled.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6263640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Start with the clickable agenda →</a:t>
            </a:r>
          </a:p>
        </p:txBody>
      </p:sp>
      <p:sp>
        <p:nvSpPr>
          <p:cNvPr id="57" name="Rounded Rectangle 56">
            <a:hlinkClick r:id="rId2" action="ppaction://hlinksldjump"/>
          </p:cNvPr>
          <p:cNvSpPr/>
          <p:nvPr/>
        </p:nvSpPr>
        <p:spPr>
          <a:xfrm>
            <a:off x="10149840" y="5989320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04704" y="6062472"/>
            <a:ext cx="120700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38D2E1"/>
                </a:solidFill>
                <a:latin typeface="Aptos"/>
              </a:rPr>
              <a:t>OPEN AGENDA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" y="4600775"/>
            <a:ext cx="283464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en-US" sz="1200" b="1" dirty="0" err="1" smtClean="0">
                <a:solidFill>
                  <a:srgbClr val="EFF6FF"/>
                </a:solidFill>
                <a:latin typeface="Aptos"/>
              </a:rPr>
              <a:t>Shrijaya</a:t>
            </a:r>
            <a:r>
              <a:rPr lang="en-US" sz="1200" b="1" dirty="0" smtClean="0">
                <a:solidFill>
                  <a:srgbClr val="EFF6FF"/>
                </a:solidFill>
                <a:latin typeface="Aptos"/>
              </a:rPr>
              <a:t> Chauhan	G25AIT2146</a:t>
            </a:r>
            <a:endParaRPr sz="1200" b="1" dirty="0">
              <a:solidFill>
                <a:srgbClr val="EFF6FF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2688" y="4982912"/>
            <a:ext cx="283464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en-US" sz="1200" b="1" dirty="0" err="1" smtClean="0">
                <a:solidFill>
                  <a:srgbClr val="EFF6FF"/>
                </a:solidFill>
                <a:latin typeface="Aptos"/>
              </a:rPr>
              <a:t>Jahanvee</a:t>
            </a:r>
            <a:r>
              <a:rPr lang="en-US" sz="1200" b="1" dirty="0" smtClean="0">
                <a:solidFill>
                  <a:srgbClr val="EFF6FF"/>
                </a:solidFill>
                <a:latin typeface="Aptos"/>
              </a:rPr>
              <a:t> </a:t>
            </a:r>
            <a:r>
              <a:rPr lang="en-US" sz="1200" b="1" dirty="0" smtClean="0">
                <a:solidFill>
                  <a:srgbClr val="EFF6FF"/>
                </a:solidFill>
                <a:latin typeface="Aptos"/>
              </a:rPr>
              <a:t>Yadav	G25AIT2043</a:t>
            </a:r>
            <a:endParaRPr sz="1200" b="1" dirty="0">
              <a:solidFill>
                <a:srgbClr val="EFF6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Choose your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This deck is designed for a live walkthrough. Click a topic to jump directly to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685800" y="196596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01</a:t>
            </a:r>
          </a:p>
        </p:txBody>
      </p:sp>
      <p:sp>
        <p:nvSpPr>
          <p:cNvPr id="10" name="TextBox 9">
            <a:hlinkClick r:id="rId2" action="ppaction://hlinksldjump"/>
          </p:cNvPr>
          <p:cNvSpPr txBox="1"/>
          <p:nvPr/>
        </p:nvSpPr>
        <p:spPr>
          <a:xfrm>
            <a:off x="1399032" y="211226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Problem &amp; physical intuition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4480560" y="196596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02</a:t>
            </a:r>
          </a:p>
        </p:txBody>
      </p:sp>
      <p:sp>
        <p:nvSpPr>
          <p:cNvPr id="13" name="TextBox 12">
            <a:hlinkClick r:id="rId3" action="ppaction://hlinksldjump"/>
          </p:cNvPr>
          <p:cNvSpPr txBox="1"/>
          <p:nvPr/>
        </p:nvSpPr>
        <p:spPr>
          <a:xfrm>
            <a:off x="5193792" y="211226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Equation &amp; stopping rule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8275320" y="196596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13055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03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8988552" y="211226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Algorithm and CUDA execution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685800" y="320040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04</a:t>
            </a:r>
          </a:p>
        </p:txBody>
      </p:sp>
      <p:sp>
        <p:nvSpPr>
          <p:cNvPr id="19" name="TextBox 18">
            <a:hlinkClick r:id="rId6" action="ppaction://hlinksldjump"/>
          </p:cNvPr>
          <p:cNvSpPr txBox="1"/>
          <p:nvPr/>
        </p:nvSpPr>
        <p:spPr>
          <a:xfrm>
            <a:off x="1399032" y="334670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Global memory implementation</a:t>
            </a:r>
          </a:p>
        </p:txBody>
      </p:sp>
      <p:sp>
        <p:nvSpPr>
          <p:cNvPr id="20" name="Rounded Rectangle 19">
            <a:hlinkClick r:id="rId6" action="ppaction://hlinksldjump"/>
          </p:cNvPr>
          <p:cNvSpPr/>
          <p:nvPr/>
        </p:nvSpPr>
        <p:spPr>
          <a:xfrm>
            <a:off x="4480560" y="320040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36499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05</a:t>
            </a:r>
          </a:p>
        </p:txBody>
      </p:sp>
      <p:sp>
        <p:nvSpPr>
          <p:cNvPr id="22" name="TextBox 21">
            <a:hlinkClick r:id="rId7" action="ppaction://hlinksldjump"/>
          </p:cNvPr>
          <p:cNvSpPr txBox="1"/>
          <p:nvPr/>
        </p:nvSpPr>
        <p:spPr>
          <a:xfrm>
            <a:off x="5193792" y="334670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Shared-memory tiling</a:t>
            </a:r>
          </a:p>
        </p:txBody>
      </p:sp>
      <p:sp>
        <p:nvSpPr>
          <p:cNvPr id="23" name="Rounded Rectangle 22">
            <a:hlinkClick r:id="rId8" action="ppaction://hlinksldjump"/>
          </p:cNvPr>
          <p:cNvSpPr/>
          <p:nvPr/>
        </p:nvSpPr>
        <p:spPr>
          <a:xfrm>
            <a:off x="8275320" y="320040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3364992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06</a:t>
            </a:r>
          </a:p>
        </p:txBody>
      </p:sp>
      <p:sp>
        <p:nvSpPr>
          <p:cNvPr id="25" name="TextBox 24">
            <a:hlinkClick r:id="rId9" action="ppaction://hlinksldjump"/>
          </p:cNvPr>
          <p:cNvSpPr txBox="1"/>
          <p:nvPr/>
        </p:nvSpPr>
        <p:spPr>
          <a:xfrm>
            <a:off x="8988552" y="334670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Correctness evidence</a:t>
            </a:r>
          </a:p>
        </p:txBody>
      </p:sp>
      <p:sp>
        <p:nvSpPr>
          <p:cNvPr id="26" name="Rounded Rectangle 25">
            <a:hlinkClick r:id="rId10" action="ppaction://hlinksldjump"/>
          </p:cNvPr>
          <p:cNvSpPr/>
          <p:nvPr/>
        </p:nvSpPr>
        <p:spPr>
          <a:xfrm>
            <a:off x="685800" y="443484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99431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07</a:t>
            </a:r>
          </a:p>
        </p:txBody>
      </p:sp>
      <p:sp>
        <p:nvSpPr>
          <p:cNvPr id="28" name="TextBox 27">
            <a:hlinkClick r:id="rId8" action="ppaction://hlinksldjump"/>
          </p:cNvPr>
          <p:cNvSpPr txBox="1"/>
          <p:nvPr/>
        </p:nvSpPr>
        <p:spPr>
          <a:xfrm>
            <a:off x="1399032" y="458114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Performance comparison</a:t>
            </a:r>
          </a:p>
        </p:txBody>
      </p:sp>
      <p:sp>
        <p:nvSpPr>
          <p:cNvPr id="29" name="Rounded Rectangle 28">
            <a:hlinkClick r:id="rId11" action="ppaction://hlinksldjump"/>
          </p:cNvPr>
          <p:cNvSpPr/>
          <p:nvPr/>
        </p:nvSpPr>
        <p:spPr>
          <a:xfrm>
            <a:off x="4480560" y="443484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4599431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08</a:t>
            </a:r>
          </a:p>
        </p:txBody>
      </p:sp>
      <p:sp>
        <p:nvSpPr>
          <p:cNvPr id="31" name="TextBox 30">
            <a:hlinkClick r:id="rId11" action="ppaction://hlinksldjump"/>
          </p:cNvPr>
          <p:cNvSpPr txBox="1"/>
          <p:nvPr/>
        </p:nvSpPr>
        <p:spPr>
          <a:xfrm>
            <a:off x="5193792" y="458114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32" name="Rounded Rectangle 31">
            <a:hlinkClick r:id="rId12" action="ppaction://hlinksldjump"/>
          </p:cNvPr>
          <p:cNvSpPr/>
          <p:nvPr/>
        </p:nvSpPr>
        <p:spPr>
          <a:xfrm>
            <a:off x="8275320" y="4434840"/>
            <a:ext cx="3474720" cy="93268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4599431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8D2E1"/>
                </a:solidFill>
                <a:latin typeface="Aptos"/>
              </a:rPr>
              <a:t>09</a:t>
            </a:r>
          </a:p>
        </p:txBody>
      </p:sp>
      <p:sp>
        <p:nvSpPr>
          <p:cNvPr id="34" name="TextBox 33">
            <a:hlinkClick r:id="rId12" action="ppaction://hlinksldjump"/>
          </p:cNvPr>
          <p:cNvSpPr txBox="1"/>
          <p:nvPr/>
        </p:nvSpPr>
        <p:spPr>
          <a:xfrm>
            <a:off x="8988552" y="4581144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Quick knowledge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1">
                <a:solidFill>
                  <a:srgbClr val="FFA45A"/>
                </a:solidFill>
                <a:latin typeface="Aptos"/>
              </a:rPr>
              <a:t>Presenter tip: ask the audience to predict which memory strategy will be faster before revealing the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What does the simulation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Imagine a thin plate heated along its top edge while the other edges are held cold.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03</a:t>
            </a:r>
          </a:p>
        </p:txBody>
      </p:sp>
      <p:pic>
        <p:nvPicPr>
          <p:cNvPr id="8" name="Picture 7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4864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93852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938528"/>
            <a:ext cx="64008" cy="1207008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093976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Hot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505456"/>
            <a:ext cx="194767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Top boundary stays at 100°C.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3852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34272" y="1938528"/>
            <a:ext cx="64008" cy="1207008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2093976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Cold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05456"/>
            <a:ext cx="194767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Bottom and sides stay at 0°C.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01568"/>
            <a:ext cx="4919472" cy="107899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46520" y="3401568"/>
            <a:ext cx="64008" cy="1078992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3557016"/>
            <a:ext cx="4553712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Interior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968496"/>
            <a:ext cx="4535424" cy="42062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Each cell gradually takes on a temperature influenced by its four neighbours.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736592"/>
            <a:ext cx="4919472" cy="1229868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6520" y="4736592"/>
            <a:ext cx="64008" cy="96012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4892040"/>
            <a:ext cx="4553712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5303520"/>
            <a:ext cx="4535424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Find a stable temperature field without updating cells one-by-one on the CPU.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06440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00" b="0">
                <a:solidFill>
                  <a:srgbClr val="AEBED3"/>
                </a:solidFill>
                <a:latin typeface="Aptos"/>
              </a:rPr>
              <a:t>Heatmap is illustrative; the report's numerical validation uses a 10 × 10 grid.</a:t>
            </a:r>
          </a:p>
        </p:txBody>
      </p:sp>
      <p:sp>
        <p:nvSpPr>
          <p:cNvPr id="26" name="Rounded Rectangle 25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02 •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One simple rule, repeated many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project uses an explicit five-point Jacobi stencil on a square grid.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6492240" cy="114300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12848"/>
            <a:ext cx="5943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900" b="1">
                <a:solidFill>
                  <a:srgbClr val="EFF6FF"/>
                </a:solidFill>
                <a:latin typeface="Aptos"/>
              </a:rPr>
              <a:t>Tᵗ⁺¹ᵢ,ⱼ = (Tᵗᵢ₋₁,ⱼ + Tᵗᵢ₊₁,ⱼ + Tᵗᵢ,ⱼ₋₁ + Tᵗᵢ,ⱼ₊₁) /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2633472"/>
            <a:ext cx="786384" cy="493776"/>
          </a:xfrm>
          <a:prstGeom prst="roundRect">
            <a:avLst>
              <a:gd name="adj" fmla="val 12000"/>
            </a:avLst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2715768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808" y="1975103"/>
            <a:ext cx="786384" cy="493776"/>
          </a:xfrm>
          <a:prstGeom prst="roundRect">
            <a:avLst>
              <a:gd name="adj" fmla="val 12000"/>
            </a:avLst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057399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3291840"/>
            <a:ext cx="786384" cy="493776"/>
          </a:xfrm>
          <a:prstGeom prst="roundRect">
            <a:avLst>
              <a:gd name="adj" fmla="val 12000"/>
            </a:avLst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3374136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2633472"/>
            <a:ext cx="786384" cy="493776"/>
          </a:xfrm>
          <a:prstGeom prst="roundRect">
            <a:avLst>
              <a:gd name="adj" fmla="val 12000"/>
            </a:avLst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715768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left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8048" y="2633472"/>
            <a:ext cx="786384" cy="493776"/>
          </a:xfrm>
          <a:prstGeom prst="roundRect">
            <a:avLst>
              <a:gd name="adj" fmla="val 12000"/>
            </a:avLst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715768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840480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EFF6FF"/>
                </a:solidFill>
                <a:latin typeface="Aptos"/>
              </a:rPr>
              <a:t>Five-point stencil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3611879"/>
            <a:ext cx="91440" cy="91440"/>
          </a:xfrm>
          <a:prstGeom prst="ellipse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3493008"/>
            <a:ext cx="592531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Only interior cells are updated; boundary cells are copied unchanged.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343400"/>
            <a:ext cx="91440" cy="91440"/>
          </a:xfrm>
          <a:prstGeom prst="ellipse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4224528"/>
            <a:ext cx="592531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The next grid is computed from the previous grid (Jacobi update).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074920"/>
            <a:ext cx="91440" cy="91440"/>
          </a:xfrm>
          <a:prstGeom prst="ellipse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" y="4956048"/>
            <a:ext cx="592531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Stop when max |new − old| &lt; ε, with ε = 10⁻⁴.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461772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4800600"/>
            <a:ext cx="329184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FA45A"/>
                </a:solidFill>
                <a:latin typeface="Aptos"/>
              </a:rPr>
              <a:t>Convergence = changes become small,
not necessarily exactly zero.</a:t>
            </a:r>
          </a:p>
        </p:txBody>
      </p:sp>
      <p:sp>
        <p:nvSpPr>
          <p:cNvPr id="29" name="Rounded Rectangle 28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03 •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iteration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CPU sets up the run; CUDA performs each grid update and returns only the convergence scalar.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64008" cy="128016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1. 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Top row = 100°C; other boundaries = 0°C; interior = 0°C.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2606039"/>
            <a:ext cx="256032" cy="0"/>
          </a:xfrm>
          <a:prstGeom prst="line">
            <a:avLst/>
          </a:prstGeom>
          <a:ln w="254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35424" y="19659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5424" y="1965960"/>
            <a:ext cx="64008" cy="128016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1214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2. Reset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32888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Set device-side maximum-change accumulator to zero.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28431" y="2606039"/>
            <a:ext cx="256032" cy="0"/>
          </a:xfrm>
          <a:prstGeom prst="line">
            <a:avLst/>
          </a:prstGeom>
          <a:ln w="254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57615" y="19659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57615" y="1965960"/>
            <a:ext cx="64008" cy="128016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58784" y="21214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3. Launch 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532888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One thread handles one grid cell; interior cells apply the stencil.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661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566160"/>
            <a:ext cx="64008" cy="128016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216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4. Measure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Each updated cell contributes |new − old| to the maximum.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4206240"/>
            <a:ext cx="256032" cy="0"/>
          </a:xfrm>
          <a:prstGeom prst="line">
            <a:avLst/>
          </a:prstGeom>
          <a:ln w="254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35424" y="35661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35424" y="3566160"/>
            <a:ext cx="64008" cy="1280160"/>
          </a:xfrm>
          <a:prstGeom prst="rect">
            <a:avLst/>
          </a:prstGeom>
          <a:solidFill>
            <a:srgbClr val="FF6F7E"/>
          </a:solidFill>
          <a:ln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37216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5. Check stop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133087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Copy one 4-byte scalar to host; stop if it is below ε.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28431" y="4206240"/>
            <a:ext cx="256032" cy="0"/>
          </a:xfrm>
          <a:prstGeom prst="line">
            <a:avLst/>
          </a:prstGeom>
          <a:ln w="254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57615" y="356616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57615" y="3566160"/>
            <a:ext cx="64008" cy="128016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58784" y="372160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6. Swap grids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4133087"/>
            <a:ext cx="309067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Use new grid as old grid and repeat if not converged.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32120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FA45A"/>
                </a:solidFill>
                <a:latin typeface="Aptos"/>
              </a:rPr>
              <a:t>Important distinction: full temperature grids stay on the GPU during iteration; the host still checks a small scalar every iteration.</a:t>
            </a:r>
          </a:p>
        </p:txBody>
      </p:sp>
      <p:sp>
        <p:nvSpPr>
          <p:cNvPr id="37" name="Rounded Rectangle 36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03 • CUDA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How the grid maps to GPU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code uses a 2D CUDA launch with 16 × 16 threads per block.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84831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084831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2231136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084831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231136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084831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231136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743200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88950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743200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00200" y="288950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743200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288950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743200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288950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401568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54787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401568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354787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3401568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31720" y="354787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3401568"/>
            <a:ext cx="621792" cy="53035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3240" y="354787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60520"/>
            <a:ext cx="3291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EFF6FF"/>
                </a:solidFill>
                <a:latin typeface="Aptos"/>
              </a:rPr>
              <a:t>Grid of thread blocks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2011680"/>
            <a:ext cx="315468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2011680"/>
            <a:ext cx="64008" cy="109728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61688" y="216712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Thread coordinates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2578608"/>
            <a:ext cx="2770632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x = blockIdx.x × blockDim.x + threadIdx.x
y = blockIdx.y × blockDim.y + threadIdx.y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201168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3800" y="2011680"/>
            <a:ext cx="64008" cy="109728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4968" y="2167128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Linear memory 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2578608"/>
            <a:ext cx="3227832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idx = y × N + x
Rows are stored consecutively in a 1D array.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60520" y="342900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60520" y="3429000"/>
            <a:ext cx="64008" cy="114300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61688" y="358444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Bounds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3995928"/>
            <a:ext cx="2770632" cy="4846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Threads outside N × N return without accessing the grid.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43800" y="3429000"/>
            <a:ext cx="3611880" cy="11430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543800" y="3429000"/>
            <a:ext cx="64008" cy="114300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44968" y="3584448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Boundary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44968" y="3995928"/>
            <a:ext cx="3227832" cy="4846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Edge cells copy their previous value and skip the stencil.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029200"/>
            <a:ext cx="10241280" cy="6400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7280" y="5193792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EFF6FF"/>
                </a:solidFill>
                <a:latin typeface="Aptos"/>
              </a:rPr>
              <a:t>Why parallelize? A large number of independent interior cells can be updated simultaneously.</a:t>
            </a:r>
          </a:p>
        </p:txBody>
      </p:sp>
      <p:sp>
        <p:nvSpPr>
          <p:cNvPr id="51" name="Rounded Rectangle 50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04 • IMPLEMENTATION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Baseline: global-memory stencil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Simple and direct: every thread reads its four neighbours from the grid in global memory.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5715000" cy="3520440"/>
          </a:xfrm>
          <a:prstGeom prst="roundRect">
            <a:avLst>
              <a:gd name="adj" fmla="val 12000"/>
            </a:avLst>
          </a:prstGeom>
          <a:solidFill>
            <a:srgbClr val="080E19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5212080" cy="2971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Consolas"/>
              </a:rPr>
              <a:t>x, y ← CUDA thread coordinates
if outside grid: return
if boundary cell:
    new[idx] ← old[idx]
else:
    newTemp ← (up + down + left + right) / 4
    new[idx] ← newTemp
    change ← abs(newTemp − old[idx])
    atomicMax(maxChange, change)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965960"/>
            <a:ext cx="4206240" cy="98755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1965960"/>
            <a:ext cx="64008" cy="987552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2121408"/>
            <a:ext cx="38404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532888"/>
            <a:ext cx="382219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Low complexity; straightforward indexing and control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182112"/>
            <a:ext cx="4206240" cy="98755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3182112"/>
            <a:ext cx="64008" cy="987552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04888" y="3337560"/>
            <a:ext cx="38404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Memory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3749039"/>
            <a:ext cx="3822191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Neighbour values are read through cached global-memory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398264"/>
            <a:ext cx="4206240" cy="98755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3720" y="4398264"/>
            <a:ext cx="64008" cy="987552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04888" y="4553712"/>
            <a:ext cx="38404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Convergence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4875798"/>
            <a:ext cx="3840479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AEBED3"/>
                </a:solidFill>
                <a:latin typeface="Aptos"/>
              </a:rPr>
              <a:t>Atomic maximum tracks the largest absolute cell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103327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>
                <a:solidFill>
                  <a:srgbClr val="AEBED3"/>
                </a:solidFill>
                <a:latin typeface="Aptos"/>
              </a:rPr>
              <a:t>Atomic detail from the report: non-negative float changes are bit-reinterpreted for integer atomicMax.</a:t>
            </a:r>
          </a:p>
        </p:txBody>
      </p:sp>
      <p:sp>
        <p:nvSpPr>
          <p:cNvPr id="23" name="Rounded Rectangle 22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05 • IMPLEMENTATION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Optimization: shared-memory tiling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Stage a block's working region plus a one-cell halo into fast on-chip shared memory.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1031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22128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606039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06039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606039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606039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77440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606039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0360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606039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271576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10896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10896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310896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74519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10896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77440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310896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80360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10896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0" y="321868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361188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61188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1600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61188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74519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361188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77440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361188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80360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361188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80" y="372160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411480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411480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71600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19" y="411480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74519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411480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0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4114800"/>
            <a:ext cx="448056" cy="448056"/>
          </a:xfrm>
          <a:prstGeom prst="rect">
            <a:avLst/>
          </a:prstGeom>
          <a:solidFill>
            <a:srgbClr val="225C6F"/>
          </a:solidFill>
          <a:ln>
            <a:solidFill>
              <a:srgbClr val="225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80360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411480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83280" y="422452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8680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1600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19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874519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77440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377440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80360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880360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0" y="4617720"/>
            <a:ext cx="448056" cy="448056"/>
          </a:xfrm>
          <a:prstGeom prst="rect">
            <a:avLst/>
          </a:prstGeom>
          <a:solidFill>
            <a:srgbClr val="74432E"/>
          </a:solidFill>
          <a:ln>
            <a:solidFill>
              <a:srgbClr val="744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383280" y="4727448"/>
            <a:ext cx="44805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EFF6FF"/>
                </a:solidFill>
                <a:latin typeface="Aptos"/>
              </a:rPr>
              <a:t>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" y="5285232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Concept sketch: core + halo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43400" y="1993392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43400" y="1993392"/>
            <a:ext cx="64008" cy="105156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44568" y="214884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Tile shape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44568" y="2560320"/>
            <a:ext cx="2770632" cy="39319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16 × 16 core with 1-cell halo → 18 × 18 shared array.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26679" y="1993392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726679" y="1993392"/>
            <a:ext cx="64008" cy="105156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927848" y="214884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Cooperative loading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27848" y="2560320"/>
            <a:ext cx="2999232" cy="39319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Threads load core cells; perimeter threads load halo neighbours.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343400" y="333756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343400" y="3337560"/>
            <a:ext cx="64008" cy="105156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544568" y="3493008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Barrier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44568" y="3904487"/>
            <a:ext cx="2770632" cy="39319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__syncthreads() ensures tile data is ready before reads.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726679" y="3337560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726679" y="3337560"/>
            <a:ext cx="64008" cy="105156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927848" y="349300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Expected benefit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27847" y="3904487"/>
            <a:ext cx="3182111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AEBED3"/>
                </a:solidFill>
                <a:latin typeface="Aptos"/>
              </a:rPr>
              <a:t>Reuse </a:t>
            </a:r>
            <a:r>
              <a:rPr sz="1200" b="0" dirty="0" smtClean="0">
                <a:solidFill>
                  <a:srgbClr val="AEBED3"/>
                </a:solidFill>
                <a:latin typeface="Aptos"/>
              </a:rPr>
              <a:t>neighbor </a:t>
            </a:r>
            <a:r>
              <a:rPr sz="1200" b="0" dirty="0">
                <a:solidFill>
                  <a:srgbClr val="AEBED3"/>
                </a:solidFill>
                <a:latin typeface="Aptos"/>
              </a:rPr>
              <a:t>values from shared memory rather than repeatedly fetching them globally.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43400" y="4709160"/>
            <a:ext cx="6766560" cy="6858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53712" y="4882896"/>
            <a:ext cx="63550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F6F7E"/>
                </a:solidFill>
                <a:latin typeface="Aptos"/>
              </a:rPr>
              <a:t>Trade-off: extra halo loads + branches + a block-wide barrier.</a:t>
            </a:r>
          </a:p>
        </p:txBody>
      </p:sp>
      <p:sp>
        <p:nvSpPr>
          <p:cNvPr id="99" name="Rounded Rectangle 98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06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Do both implementations compute the same thing?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report compares CUDA results with a NumPy CPU reference and checks the fixed boundaries.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93392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93392"/>
            <a:ext cx="64008" cy="109728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4884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163 iterations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60320"/>
            <a:ext cx="2313432" cy="5816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AEBED3"/>
                </a:solidFill>
                <a:latin typeface="Aptos"/>
              </a:rPr>
              <a:t>All three implementations converged on the 10 × 10 validation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993392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93008" y="1993392"/>
            <a:ext cx="64008" cy="109728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14884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ε = 10⁻⁴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560320"/>
            <a:ext cx="2130552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Final max change ≈ 9.72748 × 10⁻⁵.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93392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1993392"/>
            <a:ext cx="64008" cy="109728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214884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&lt;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60320"/>
            <a:ext cx="2130552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Maximum absolute difference vs CPU ≈ 4.9719 × 10⁻⁵.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993392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24544" y="1993392"/>
            <a:ext cx="64008" cy="109728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5712" y="214884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0 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560320"/>
            <a:ext cx="2130552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Global vs shared output reported exact match at 256 × 256.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794760"/>
            <a:ext cx="9966960" cy="384048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9966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ptos"/>
              </a:rPr>
              <a:t>TOP EDGE: 100°C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97680"/>
            <a:ext cx="9966960" cy="347472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379976"/>
            <a:ext cx="996696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INTERIOR: updated by stencil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754880"/>
            <a:ext cx="9966960" cy="384048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37176"/>
            <a:ext cx="9966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Aptos"/>
              </a:rPr>
              <a:t>BOTTOM + SIDE EDGES: 0°C (side rule excludes top corners)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AEBED3"/>
                </a:solidFill>
                <a:latin typeface="Aptos"/>
              </a:rPr>
              <a:t>Validation shows numerical agreement; it does not by itself prove the fastest implementation.</a:t>
            </a:r>
          </a:p>
        </p:txBody>
      </p:sp>
      <p:sp>
        <p:nvSpPr>
          <p:cNvPr id="31" name="Rounded Rectangle 30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07 •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Measured runtime: global memory wins in this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Google Colab • NVIDIA Tesla T4 • three runs after warm-up • median reported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537960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938528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1938528"/>
            <a:ext cx="64008" cy="91440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8" y="2093976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32 ×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505456"/>
            <a:ext cx="3273552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19.86 ms global vs 26.64 ms shared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0632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2360" y="3063240"/>
            <a:ext cx="64008" cy="91440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3218688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64 × 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630168"/>
            <a:ext cx="3273552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104.76 ms vs 106.02 ms — nearly tied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187952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4187952"/>
            <a:ext cx="64008" cy="91440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434340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128 × 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4754880"/>
            <a:ext cx="3273552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336.01 ms vs 342.88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5312664"/>
            <a:ext cx="3657600" cy="71323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5312664"/>
            <a:ext cx="64008" cy="713232"/>
          </a:xfrm>
          <a:prstGeom prst="rect">
            <a:avLst/>
          </a:prstGeom>
          <a:solidFill>
            <a:srgbClr val="FF6F7E"/>
          </a:solidFill>
          <a:ln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3528" y="5441636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 dirty="0">
                <a:solidFill>
                  <a:srgbClr val="EFF6FF"/>
                </a:solidFill>
                <a:latin typeface="Aptos"/>
              </a:rPr>
              <a:t>256 × 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5734244"/>
            <a:ext cx="3273552" cy="548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dirty="0">
                <a:solidFill>
                  <a:srgbClr val="AEBED3"/>
                </a:solidFill>
                <a:latin typeface="Aptos"/>
              </a:rPr>
              <a:t>984.36 </a:t>
            </a:r>
            <a:r>
              <a:rPr sz="1000" b="0" dirty="0" err="1">
                <a:solidFill>
                  <a:srgbClr val="AEBED3"/>
                </a:solidFill>
                <a:latin typeface="Aptos"/>
              </a:rPr>
              <a:t>ms</a:t>
            </a:r>
            <a:r>
              <a:rPr sz="1000" b="0" dirty="0">
                <a:solidFill>
                  <a:srgbClr val="AEBED3"/>
                </a:solidFill>
                <a:latin typeface="Aptos"/>
              </a:rPr>
              <a:t> vs 1,110.86 </a:t>
            </a:r>
            <a:r>
              <a:rPr sz="1000" b="0" dirty="0" err="1">
                <a:solidFill>
                  <a:srgbClr val="AEBED3"/>
                </a:solidFill>
                <a:latin typeface="Aptos"/>
              </a:rPr>
              <a:t>ms</a:t>
            </a:r>
            <a:endParaRPr sz="1000" b="0" dirty="0">
              <a:solidFill>
                <a:srgbClr val="AEBED3"/>
              </a:solidFill>
              <a:latin typeface="Aptos"/>
            </a:endParaRPr>
          </a:p>
        </p:txBody>
      </p:sp>
      <p:sp>
        <p:nvSpPr>
          <p:cNvPr id="25" name="Rounded Rectangle 24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07 •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Read the ratio correctly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Global / Shared &lt; 1 means the global-memory version took less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1828800" cy="512064"/>
          </a:xfrm>
          <a:prstGeom prst="rect">
            <a:avLst/>
          </a:prstGeom>
          <a:solidFill>
            <a:srgbClr val="1E3554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3" y="2203704"/>
            <a:ext cx="171907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Grid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057400"/>
            <a:ext cx="2057400" cy="512064"/>
          </a:xfrm>
          <a:prstGeom prst="rect">
            <a:avLst/>
          </a:prstGeom>
          <a:solidFill>
            <a:srgbClr val="1E3554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60904" y="2203704"/>
            <a:ext cx="194767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Global (ms)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057400"/>
            <a:ext cx="2057400" cy="512064"/>
          </a:xfrm>
          <a:prstGeom prst="rect">
            <a:avLst/>
          </a:prstGeom>
          <a:solidFill>
            <a:srgbClr val="1E3554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3" y="2203704"/>
            <a:ext cx="194767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Shared (ms)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2057400"/>
            <a:ext cx="1554480" cy="512064"/>
          </a:xfrm>
          <a:prstGeom prst="rect">
            <a:avLst/>
          </a:prstGeom>
          <a:solidFill>
            <a:srgbClr val="1E3554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75703" y="2203704"/>
            <a:ext cx="144475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Global/Shared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2057400"/>
            <a:ext cx="3291840" cy="512064"/>
          </a:xfrm>
          <a:prstGeom prst="rect">
            <a:avLst/>
          </a:prstGeom>
          <a:solidFill>
            <a:srgbClr val="1E3554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2203704"/>
            <a:ext cx="3182112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Interpretation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596896"/>
            <a:ext cx="18288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" y="2761488"/>
            <a:ext cx="17190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32 × 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596896"/>
            <a:ext cx="20574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60904" y="2761488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19.8593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596896"/>
            <a:ext cx="20574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3" y="2761488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26.6397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596896"/>
            <a:ext cx="155448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5703" y="2761488"/>
            <a:ext cx="14447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FA45A"/>
                </a:solidFill>
                <a:latin typeface="Aptos"/>
              </a:rPr>
              <a:t>0.745×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2596896"/>
            <a:ext cx="329184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3" y="2761488"/>
            <a:ext cx="318211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Global faster by ~25.5%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255263"/>
            <a:ext cx="18288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3" y="3419856"/>
            <a:ext cx="17190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64 × 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255263"/>
            <a:ext cx="20574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60904" y="3419856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104.7550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255263"/>
            <a:ext cx="20574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18303" y="3419856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106.0160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255263"/>
            <a:ext cx="155448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75703" y="3419856"/>
            <a:ext cx="14447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FA45A"/>
                </a:solidFill>
                <a:latin typeface="Aptos"/>
              </a:rPr>
              <a:t>0.988×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255263"/>
            <a:ext cx="329184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0183" y="3419856"/>
            <a:ext cx="318211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Global faster by ~1.2%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913631"/>
            <a:ext cx="18288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3" y="4078223"/>
            <a:ext cx="17190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128 × 128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40" y="3913631"/>
            <a:ext cx="20574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60904" y="4078223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336.0070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913631"/>
            <a:ext cx="205740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3" y="4078223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342.8780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3913631"/>
            <a:ext cx="155448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75703" y="4078223"/>
            <a:ext cx="14447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FA45A"/>
                </a:solidFill>
                <a:latin typeface="Aptos"/>
              </a:rPr>
              <a:t>0.980×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3913631"/>
            <a:ext cx="3291840" cy="585216"/>
          </a:xfrm>
          <a:prstGeom prst="rect">
            <a:avLst/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30183" y="4078223"/>
            <a:ext cx="318211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Global faster by ~2.0%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572000"/>
            <a:ext cx="18288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3" y="4736592"/>
            <a:ext cx="17190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256 × 256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4572000"/>
            <a:ext cx="20574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60904" y="4736592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984.3600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572000"/>
            <a:ext cx="205740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18303" y="4736592"/>
            <a:ext cx="19476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1,110.8600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4572000"/>
            <a:ext cx="155448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3" y="4736592"/>
            <a:ext cx="14447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FA45A"/>
                </a:solidFill>
                <a:latin typeface="Aptos"/>
              </a:rPr>
              <a:t>0.886×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4572000"/>
            <a:ext cx="3291840" cy="585216"/>
          </a:xfrm>
          <a:prstGeom prst="rect">
            <a:avLst/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30183" y="4736592"/>
            <a:ext cx="318211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FF6FF"/>
                </a:solidFill>
                <a:latin typeface="Aptos"/>
              </a:rPr>
              <a:t>Global faster by ~11.4%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5440680"/>
            <a:ext cx="10058400" cy="576072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97280" y="5596128"/>
            <a:ext cx="96012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EFF6FF"/>
                </a:solidFill>
                <a:latin typeface="Aptos"/>
              </a:rPr>
              <a:t>No measured grid size showed a shared-memory speedup. The 64² and 128² results are close.</a:t>
            </a:r>
          </a:p>
        </p:txBody>
      </p:sp>
      <p:sp>
        <p:nvSpPr>
          <p:cNvPr id="60" name="Rounded Rectangle 59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08 •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Why didn't shared memory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An optimization can reduce memory reads yet still increase total runtime.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64008" cy="123444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6712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1 • Hardware caches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78608"/>
            <a:ext cx="3044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T4 L1/L2 caches can serve the stencil's regular neighbour accesses efficiently.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64008" cy="123444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6712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2 • Halo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78608"/>
            <a:ext cx="3044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Extra conditional loads and indexing are needed to fill the 18 × 18 tile.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116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011680"/>
            <a:ext cx="64008" cy="1234440"/>
          </a:xfrm>
          <a:prstGeom prst="rect">
            <a:avLst/>
          </a:prstGeom>
          <a:solidFill>
            <a:srgbClr val="5F97FF"/>
          </a:solidFill>
          <a:ln>
            <a:solidFill>
              <a:srgbClr val="5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16712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3 • 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578608"/>
            <a:ext cx="3044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Every block waits at __syncthreads() before it can compute.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70332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14600" y="3703320"/>
            <a:ext cx="64008" cy="1234440"/>
          </a:xfrm>
          <a:prstGeom prst="rect">
            <a:avLst/>
          </a:prstGeom>
          <a:solidFill>
            <a:srgbClr val="FF6F7E"/>
          </a:solidFill>
          <a:ln>
            <a:solidFill>
              <a:srgbClr val="F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15768" y="385876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4 • Convergence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4270248"/>
            <a:ext cx="3044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 scalar device-to-host copy and host decision occur each iteration.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703320"/>
            <a:ext cx="64008" cy="123444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858768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FF6FF"/>
                </a:solidFill>
                <a:latin typeface="Aptos"/>
              </a:rPr>
              <a:t>5 • Small workloads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270248"/>
            <a:ext cx="3044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For these grid sizes, setup and synchronization costs can outweigh reuse benefits.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98755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FA45A"/>
                </a:solidFill>
                <a:latin typeface="Aptos"/>
              </a:rPr>
              <a:t>Takeaway: shared memory is a tool, not a guarantee. Measure end-to-end behaviour on the target GPU.</a:t>
            </a:r>
          </a:p>
        </p:txBody>
      </p:sp>
      <p:sp>
        <p:nvSpPr>
          <p:cNvPr id="29" name="Rounded Rectangle 28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09 •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What this experiment does — and doesn't — establish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Keep the scope of the evidence clear.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12264"/>
            <a:ext cx="91440" cy="91440"/>
          </a:xfrm>
          <a:prstGeom prst="ellipse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2"/>
            <a:ext cx="994867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Only four grid sizes were benchmarked: 32² through 256².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88920"/>
            <a:ext cx="91440" cy="91440"/>
          </a:xfrm>
          <a:prstGeom prst="ellipse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670048"/>
            <a:ext cx="994867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Three measured runs per configuration; medians reduce noise but are still a small sample.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65576"/>
            <a:ext cx="91440" cy="91440"/>
          </a:xfrm>
          <a:prstGeom prst="ellipse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346704"/>
            <a:ext cx="994867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Reported timings include iterative convergence handling, so per-kernel memory effects are not isolated.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142232"/>
            <a:ext cx="91440" cy="91440"/>
          </a:xfrm>
          <a:prstGeom prst="ellipse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023360"/>
            <a:ext cx="994867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A scalar host check every iteration can dominate runtime; it is not the same as copying the full grid.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18888"/>
            <a:ext cx="91440" cy="91440"/>
          </a:xfrm>
          <a:prstGeom prst="ellipse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700016"/>
            <a:ext cx="9948672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FF6FF"/>
                </a:solidFill>
                <a:latin typeface="Aptos"/>
              </a:rPr>
              <a:t>The interactive notebook heatmap runs a CPU/NumPy simulation; its benchmark panel displays recorded CUDA timings.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559552"/>
            <a:ext cx="9966960" cy="475488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678424"/>
            <a:ext cx="960120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Therefore: results support a conclusion for this setup, not a universal claim about all GPUs or grid sizes.</a:t>
            </a:r>
          </a:p>
        </p:txBody>
      </p:sp>
      <p:sp>
        <p:nvSpPr>
          <p:cNvPr id="20" name="Rounded Rectangle 19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10 •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Conclusion and 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implementation is correct; the performance lesson is to profile the whole workflow.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64008" cy="128016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2140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What worked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32888"/>
            <a:ext cx="299923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CUDA parallel stencil, fixed boundaries, convergence tracking, and CPU/GPU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64008" cy="128016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What we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32888"/>
            <a:ext cx="299923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Shared-memory tiling was slower in all four tested cases on the T4 setup.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965960"/>
            <a:ext cx="64008" cy="128016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121408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What to try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532888"/>
            <a:ext cx="299923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Reduce synchronization and measure kernels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365760" cy="347472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307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675887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EFF6FF"/>
                </a:solidFill>
                <a:latin typeface="Aptos"/>
              </a:rPr>
              <a:t>Check every K iterations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675887"/>
            <a:ext cx="71323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Try K = 100; report the convergence-check trade-off.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78808"/>
            <a:ext cx="365760" cy="347472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197096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EFF6FF"/>
                </a:solidFill>
                <a:latin typeface="Aptos"/>
              </a:rPr>
              <a:t>Profile kernel-only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197096"/>
            <a:ext cx="71323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Separate kernel execution from scalar copies and host loop overhead.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00016"/>
            <a:ext cx="365760" cy="347472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773168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718303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EFF6FF"/>
                </a:solidFill>
                <a:latin typeface="Aptos"/>
              </a:rPr>
              <a:t>Scale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718303"/>
            <a:ext cx="71323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Benchmark 1024 × 1024 and larger domains.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221224"/>
            <a:ext cx="365760" cy="347472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94376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523951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EFF6FF"/>
                </a:solidFill>
                <a:latin typeface="Aptos"/>
              </a:rPr>
              <a:t>Tune the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239512"/>
            <a:ext cx="713232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Explore cooperative groups, block sizes, and alternate tiling strategies.</a:t>
            </a:r>
          </a:p>
        </p:txBody>
      </p:sp>
      <p:sp>
        <p:nvSpPr>
          <p:cNvPr id="36" name="Rounded Rectangle 35">
            <a:hlinkClick r:id="rId2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INTERACTIVE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Before the answer: make a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Click one option. The deck will jump to feedback explaining the choice.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2412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200" b="1">
                <a:solidFill>
                  <a:srgbClr val="EFF6FF"/>
                </a:solidFill>
                <a:latin typeface="Aptos"/>
              </a:rPr>
              <a:t>Question 1: Which implementation was faster at every tested grid size?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1051560" y="324612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39" y="345643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38D2E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3456432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Global memory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4754879" y="324612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59" y="345643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38D2E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3456432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Shared memory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8458200" y="324612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345643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38D2E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456432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They were identical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014984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FA45A"/>
                </a:solidFill>
                <a:latin typeface="Aptos"/>
              </a:rPr>
              <a:t>Tip: compare the measured medians, not the theoretical promise of an optimization.</a:t>
            </a: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ANSWER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Correct: A — Global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All four reported global-memory medians are lower than their shared-memory counterparts.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000" b="1">
                <a:solidFill>
                  <a:srgbClr val="38D2E1"/>
                </a:solidFill>
                <a:latin typeface="Aptos"/>
              </a:rPr>
              <a:t>Global/shared ratios: 0.745× • 0.988× • 0.980× • 0.886×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71800"/>
            <a:ext cx="4572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971800"/>
            <a:ext cx="64008" cy="1234440"/>
          </a:xfrm>
          <a:prstGeom prst="rect">
            <a:avLst/>
          </a:prstGeom>
          <a:solidFill>
            <a:srgbClr val="69DCA5"/>
          </a:solidFill>
          <a:ln>
            <a:solidFill>
              <a:srgbClr val="6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127248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38728"/>
            <a:ext cx="4187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Cached global-memory reads were efficient enough that tile-loading and barrier costs were not recovered.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971800"/>
            <a:ext cx="4572000" cy="123444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06440" y="2971800"/>
            <a:ext cx="64008" cy="123444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07607" y="3127248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What not to conclude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7" y="3538728"/>
            <a:ext cx="4187952" cy="5760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This does not prove shared memory is always slower. Different hardware, tile sizes, or workloads may change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98755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Click “Back to quiz” to continue or return to the agenda.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4983480" y="5623560"/>
            <a:ext cx="2194560" cy="384048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5715000"/>
            <a:ext cx="20116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← Back to quiz</a:t>
            </a:r>
          </a:p>
        </p:txBody>
      </p:sp>
      <p:sp>
        <p:nvSpPr>
          <p:cNvPr id="20" name="Rounded Rectangle 19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INTERACTIVE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One more: what does convergence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Choose the most accurate description.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2412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200" b="1">
                <a:solidFill>
                  <a:srgbClr val="EFF6FF"/>
                </a:solidFill>
                <a:latin typeface="Aptos"/>
              </a:rPr>
              <a:t>The simulation stops when…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822960" y="3154680"/>
            <a:ext cx="3520440" cy="11887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310128"/>
            <a:ext cx="26974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Every cell is exactly 0°C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4617720" y="3154680"/>
            <a:ext cx="3520440" cy="11887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3364992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3310128"/>
            <a:ext cx="26974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Maximum cell-to-cell time-step change is below ε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8412480" y="3154680"/>
            <a:ext cx="3520440" cy="11887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3364992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8D2E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310128"/>
            <a:ext cx="2697480" cy="685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FF6FF"/>
                </a:solidFill>
                <a:latin typeface="Aptos"/>
              </a:rPr>
              <a:t>A fixed number of iterations has elapsed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FA45A"/>
                </a:solidFill>
                <a:latin typeface="Aptos"/>
              </a:rPr>
              <a:t>Convergence is a numerical stopping condition based on change, not a requirement that all temperatures be equal.</a:t>
            </a: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8D2E1"/>
                </a:solidFill>
                <a:latin typeface="Aptos"/>
              </a:rPr>
              <a:t>ANSWER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Correct: B — the maximum change is below 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stopping condition in the report is max |Tᵗ⁺¹ − Tᵗ| &lt; 10⁻⁴.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73352"/>
            <a:ext cx="10945368" cy="0"/>
          </a:xfrm>
          <a:prstGeom prst="line">
            <a:avLst/>
          </a:prstGeom>
          <a:ln w="12700">
            <a:solidFill>
              <a:srgbClr val="2F4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GPU PROGRAMMING • IIT JODHPUR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38D2E1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466344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240280"/>
            <a:ext cx="64008" cy="1280160"/>
          </a:xfrm>
          <a:prstGeom prst="rect">
            <a:avLst/>
          </a:prstGeom>
          <a:solidFill>
            <a:srgbClr val="38D2E1"/>
          </a:solidFill>
          <a:ln>
            <a:solidFill>
              <a:srgbClr val="3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95728"/>
            <a:ext cx="42976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07208"/>
            <a:ext cx="427939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 stable solution can still have a temperature gradient from the hot edge to the cold edges.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240280"/>
            <a:ext cx="4663440" cy="1280160"/>
          </a:xfrm>
          <a:prstGeom prst="roundRect">
            <a:avLst>
              <a:gd name="adj" fmla="val 12000"/>
            </a:avLst>
          </a:prstGeom>
          <a:solidFill>
            <a:srgbClr val="141F33"/>
          </a:solidFill>
          <a:ln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7880" y="2240280"/>
            <a:ext cx="64008" cy="1280160"/>
          </a:xfrm>
          <a:prstGeom prst="rect">
            <a:avLst/>
          </a:prstGeom>
          <a:solidFill>
            <a:srgbClr val="FFA45A"/>
          </a:solidFill>
          <a:ln>
            <a:solidFill>
              <a:srgbClr val="FFA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8" y="2395728"/>
            <a:ext cx="42976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Implementation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807208"/>
            <a:ext cx="4279392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The GPU tracks the maximum absolute update; the host checks that scalar against tolerance.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EFF6FF"/>
                </a:solidFill>
                <a:latin typeface="Aptos"/>
              </a:rPr>
              <a:t>End of walkthrough • Questions?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4983480" y="5623560"/>
            <a:ext cx="2194560" cy="384048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5715000"/>
            <a:ext cx="20116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38D2E1"/>
                </a:solidFill>
                <a:latin typeface="Aptos"/>
              </a:rPr>
              <a:t>← Back to quiz</a:t>
            </a: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10332720" y="6108192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19283F"/>
          </a:solidFill>
          <a:ln>
            <a:solidFill>
              <a:srgbClr val="2F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6153912"/>
            <a:ext cx="109728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>
                <a:solidFill>
                  <a:srgbClr val="38D2E1"/>
                </a:solidFill>
                <a:latin typeface="Aptos"/>
              </a:rPr>
              <a:t>AGENDA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1857</Words>
  <Application>Microsoft Office PowerPoint</Application>
  <PresentationFormat>Custom</PresentationFormat>
  <Paragraphs>350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sarverah chauhan</dc:creator>
  <dc:description>generated using python-pptx</dc:description>
  <cp:lastModifiedBy>sarverah chauhan</cp:lastModifiedBy>
  <cp:revision>3</cp:revision>
  <dcterms:created xsi:type="dcterms:W3CDTF">2013-01-27T09:14:16Z</dcterms:created>
  <dcterms:modified xsi:type="dcterms:W3CDTF">2026-10-28T17:16:22Z</dcterms:modified>
</cp:coreProperties>
</file>